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"/>
              </a:rPr>
              <a:t>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"/>
              </a:rPr>
              <a:t>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D2DCEB"/>
                </a:solidFill>
                <a:latin typeface="Aptos"/>
              </a:rPr>
              <a:t>Data Science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0520" y="1097280"/>
            <a:ext cx="7132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"/>
              </a:rPr>
              <a:t>SkillCraft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87952" y="1828800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2DCEB"/>
                </a:solidFill>
                <a:latin typeface="Aptos"/>
              </a:rPr>
              <a:t>Internship Overview &amp; Learning Journey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2743200"/>
            <a:ext cx="7040880" cy="777240"/>
          </a:xfrm>
          <a:prstGeom prst="roundRect">
            <a:avLst/>
          </a:prstGeom>
          <a:solidFill>
            <a:srgbClr val="F4F7FB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2880360"/>
            <a:ext cx="6675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742"/>
                </a:solidFill>
                <a:latin typeface="Aptos"/>
              </a:rPr>
              <a:t>Student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3246120"/>
            <a:ext cx="6675120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D3440"/>
                </a:solidFill>
                <a:latin typeface="Aptos"/>
              </a:rPr>
              <a:t>Ashish Kushwaha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3703320"/>
            <a:ext cx="7040880" cy="777240"/>
          </a:xfrm>
          <a:prstGeom prst="roundRect">
            <a:avLst/>
          </a:prstGeom>
          <a:solidFill>
            <a:srgbClr val="F4F7FB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3840480"/>
            <a:ext cx="6675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742"/>
                </a:solidFill>
                <a:latin typeface="Aptos"/>
              </a:rPr>
              <a:t>Roll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4206240"/>
            <a:ext cx="6675120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D3440"/>
                </a:solidFill>
                <a:latin typeface="Aptos"/>
              </a:rPr>
              <a:t>25SCS1003004994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4663440"/>
            <a:ext cx="3383280" cy="777240"/>
          </a:xfrm>
          <a:prstGeom prst="roundRect">
            <a:avLst/>
          </a:prstGeom>
          <a:solidFill>
            <a:srgbClr val="F4F7FB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480060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742"/>
                </a:solidFill>
                <a:latin typeface="Aptos"/>
              </a:rPr>
              <a:t>Batch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5166359"/>
            <a:ext cx="3017520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D3440"/>
                </a:solidFill>
                <a:latin typeface="Aptos"/>
              </a:rPr>
              <a:t>2026–27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4663440"/>
            <a:ext cx="3383280" cy="777240"/>
          </a:xfrm>
          <a:prstGeom prst="roundRect">
            <a:avLst/>
          </a:prstGeom>
          <a:solidFill>
            <a:srgbClr val="F4F7FB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480060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742"/>
                </a:solidFill>
                <a:latin typeface="Aptos"/>
              </a:rPr>
              <a:t>Role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5166359"/>
            <a:ext cx="3017520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D3440"/>
                </a:solidFill>
                <a:latin typeface="Aptos"/>
              </a:rPr>
              <a:t>Data Science Intern</a:t>
            </a:r>
          </a:p>
        </p:txBody>
      </p:sp>
      <p:pic>
        <p:nvPicPr>
          <p:cNvPr id="20" name="Picture 19" descr="181e8264-8a30-42fd-af77-76c50b1535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20040"/>
            <a:ext cx="1417320" cy="7273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76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92742"/>
                </a:solidFill>
                <a:latin typeface="Aptos"/>
              </a:rPr>
              <a:t>Internship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6E7D"/>
                </a:solidFill>
                <a:latin typeface="Aptos"/>
              </a:rPr>
              <a:t>Key details from the supplied SkillCraft Technology internship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6E7D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47472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55448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742"/>
                </a:solidFill>
                <a:latin typeface="Aptos"/>
              </a:rPr>
              <a:t>Organization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2024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D3440"/>
                </a:solidFill>
                <a:latin typeface="Aptos"/>
              </a:rPr>
              <a:t>SkillCraft Technology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47472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55448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742"/>
                </a:solidFill>
                <a:latin typeface="Aptos"/>
              </a:rPr>
              <a:t>Designation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92024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D3440"/>
                </a:solidFill>
                <a:latin typeface="Aptos"/>
              </a:rPr>
              <a:t>Data Science Intern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47472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55448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742"/>
                </a:solidFill>
                <a:latin typeface="Aptos"/>
              </a:rPr>
              <a:t>Internship 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92024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D3440"/>
                </a:solidFill>
                <a:latin typeface="Aptos"/>
              </a:rPr>
              <a:t>SCT/JUL26/4527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71800"/>
            <a:ext cx="347472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310896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742"/>
                </a:solidFill>
                <a:latin typeface="Aptos"/>
              </a:rPr>
              <a:t>Duration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47472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D3440"/>
                </a:solidFill>
                <a:latin typeface="Aptos"/>
              </a:rPr>
              <a:t>16 July 2026 – 16 August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2971800"/>
            <a:ext cx="347472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10896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742"/>
                </a:solidFill>
                <a:latin typeface="Aptos"/>
              </a:rPr>
              <a:t>Domain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47472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D3440"/>
                </a:solidFill>
                <a:latin typeface="Aptos"/>
              </a:rPr>
              <a:t>Data Science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2971800"/>
            <a:ext cx="347472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310896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742"/>
                </a:solidFill>
                <a:latin typeface="Aptos"/>
              </a:rPr>
              <a:t>Certificate 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47472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D3440"/>
                </a:solidFill>
                <a:latin typeface="Aptos"/>
              </a:rPr>
              <a:t>22 August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09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2D3440"/>
                </a:solidFill>
                <a:latin typeface="Aptos"/>
              </a:rPr>
              <a:t>The report presents the internship objectives, scope, methodology, expected outcomes, and supporting internship documents.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309360"/>
            <a:ext cx="10972800" cy="9144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640080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46E7D"/>
                </a:solidFill>
                <a:latin typeface="Aptos"/>
              </a:rPr>
              <a:t>Data Science Internship | SkillCraft Technology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76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92742"/>
                </a:solidFill>
                <a:latin typeface="Aptos"/>
              </a:rPr>
              <a:t>Organization &amp;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6E7D"/>
                </a:solidFill>
                <a:latin typeface="Aptos"/>
              </a:rPr>
              <a:t>Professional context of the Data Science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6E7D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257800" cy="1737360"/>
          </a:xfrm>
          <a:prstGeom prst="roundRect">
            <a:avLst/>
          </a:prstGeom>
          <a:solidFill>
            <a:srgbClr val="F4F7FB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892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742"/>
                </a:solidFill>
                <a:latin typeface="Aptos"/>
              </a:rPr>
              <a:t>SkillCraft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892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D3440"/>
                </a:solidFill>
                <a:latin typeface="Aptos"/>
              </a:rPr>
              <a:t>The internship was completed under SkillCraft Technology in the Data Science domain.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257800" cy="1737360"/>
          </a:xfrm>
          <a:prstGeom prst="roundRect">
            <a:avLst/>
          </a:prstGeom>
          <a:solidFill>
            <a:srgbClr val="F4F7FB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4892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742"/>
                </a:solidFill>
                <a:latin typeface="Aptos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4892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D3440"/>
                </a:solidFill>
                <a:latin typeface="Aptos"/>
              </a:rPr>
              <a:t>Data Science Intern — focused on practical data-oriented workflows and professional documentation.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20440"/>
            <a:ext cx="5257800" cy="1508760"/>
          </a:xfrm>
          <a:prstGeom prst="roundRect">
            <a:avLst/>
          </a:prstGeom>
          <a:solidFill>
            <a:srgbClr val="F4F7FB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4892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742"/>
                </a:solidFill>
                <a:latin typeface="Aptos"/>
              </a:rPr>
              <a:t>Internship Period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4892040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D3440"/>
                </a:solidFill>
                <a:latin typeface="Aptos"/>
              </a:rPr>
              <a:t>16 July 2026 – 16 August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520440"/>
            <a:ext cx="5257800" cy="1508760"/>
          </a:xfrm>
          <a:prstGeom prst="roundRect">
            <a:avLst/>
          </a:prstGeom>
          <a:solidFill>
            <a:srgbClr val="F4F7FB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657600"/>
            <a:ext cx="4892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742"/>
                </a:solidFill>
                <a:latin typeface="Aptos"/>
              </a:rPr>
              <a:t>Supporting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023360"/>
            <a:ext cx="4892040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D3440"/>
                </a:solidFill>
                <a:latin typeface="Aptos"/>
              </a:rPr>
              <a:t>Offer letter and completion certificate are included in the internship report.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309360"/>
            <a:ext cx="10972800" cy="9144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640080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46E7D"/>
                </a:solidFill>
                <a:latin typeface="Aptos"/>
              </a:rPr>
              <a:t>Data Science Internship | SkillCraft Technology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76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92742"/>
                </a:solidFill>
                <a:latin typeface="Aptos"/>
              </a:rPr>
              <a:t>Internship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6E7D"/>
                </a:solidFill>
                <a:latin typeface="Aptos"/>
              </a:rPr>
              <a:t>Core learning goals for the Data Science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6E7D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D3440"/>
                </a:solidFill>
                <a:latin typeface="Aptos"/>
              </a:defRPr>
            </a:pPr>
            <a:r>
              <a:t>• Understand the end-to-end data science lifecycle.</a:t>
            </a:r>
          </a:p>
          <a:p>
            <a:pPr>
              <a:spcAft>
                <a:spcPts val="1100"/>
              </a:spcAft>
              <a:defRPr sz="1500">
                <a:solidFill>
                  <a:srgbClr val="2D3440"/>
                </a:solidFill>
                <a:latin typeface="Aptos"/>
              </a:defRPr>
            </a:pPr>
            <a:r>
              <a:t>• Strengthen data cleaning, preprocessing, and exploratory analysis skills.</a:t>
            </a:r>
          </a:p>
          <a:p>
            <a:pPr>
              <a:spcAft>
                <a:spcPts val="1100"/>
              </a:spcAft>
              <a:defRPr sz="1500">
                <a:solidFill>
                  <a:srgbClr val="2D3440"/>
                </a:solidFill>
                <a:latin typeface="Aptos"/>
              </a:defRPr>
            </a:pPr>
            <a:r>
              <a:t>• Learn how data visualization supports data-driven decision making.</a:t>
            </a:r>
          </a:p>
          <a:p>
            <a:pPr>
              <a:spcAft>
                <a:spcPts val="1100"/>
              </a:spcAft>
              <a:defRPr sz="1500">
                <a:solidFill>
                  <a:srgbClr val="2D3440"/>
                </a:solidFill>
                <a:latin typeface="Aptos"/>
              </a:defRPr>
            </a:pPr>
            <a:r>
              <a:t>• Understand the basics of machine-learning model development and evaluation.</a:t>
            </a:r>
          </a:p>
          <a:p>
            <a:pPr>
              <a:spcAft>
                <a:spcPts val="1100"/>
              </a:spcAft>
              <a:defRPr sz="1500">
                <a:solidFill>
                  <a:srgbClr val="2D3440"/>
                </a:solidFill>
                <a:latin typeface="Aptos"/>
              </a:defRPr>
            </a:pPr>
            <a:r>
              <a:t>• Improve technical documentation and communication.</a:t>
            </a:r>
          </a:p>
          <a:p>
            <a:pPr>
              <a:spcAft>
                <a:spcPts val="1100"/>
              </a:spcAft>
              <a:defRPr sz="1500">
                <a:solidFill>
                  <a:srgbClr val="2D3440"/>
                </a:solidFill>
                <a:latin typeface="Aptos"/>
              </a:defRPr>
            </a:pPr>
            <a:r>
              <a:t>• Develop professional habits such as planning, review, accountability, and continuous learning.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309360"/>
            <a:ext cx="10972800" cy="9144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640080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46E7D"/>
                </a:solidFill>
                <a:latin typeface="Aptos"/>
              </a:rPr>
              <a:t>Data Science Internship | SkillCraft Technology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76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92742"/>
                </a:solidFill>
                <a:latin typeface="Aptos"/>
              </a:rPr>
              <a:t>Scope of the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6E7D"/>
                </a:solidFill>
                <a:latin typeface="Aptos"/>
              </a:rPr>
              <a:t>Areas covered by the report's Data Science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6E7D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3429000" cy="1463040"/>
          </a:xfrm>
          <a:prstGeom prst="roundRect">
            <a:avLst/>
          </a:prstGeom>
          <a:solidFill>
            <a:srgbClr val="F4F7FB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508760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742"/>
                </a:solidFill>
                <a:latin typeface="Aptos"/>
              </a:rPr>
              <a:t>Data Handling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874519"/>
            <a:ext cx="3063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D3440"/>
                </a:solidFill>
                <a:latin typeface="Aptos"/>
              </a:rPr>
              <a:t>Cleaning, preprocessing, transformation, and quality checks.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429000" cy="1463040"/>
          </a:xfrm>
          <a:prstGeom prst="roundRect">
            <a:avLst/>
          </a:prstGeom>
          <a:solidFill>
            <a:srgbClr val="F4F7FB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08760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742"/>
                </a:solidFill>
                <a:latin typeface="Aptos"/>
              </a:rPr>
              <a:t>Exploratory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874519"/>
            <a:ext cx="3063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D3440"/>
                </a:solidFill>
                <a:latin typeface="Aptos"/>
              </a:rPr>
              <a:t>Descriptive analysis, pattern identification, and interpretation.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371600"/>
            <a:ext cx="3429000" cy="1463040"/>
          </a:xfrm>
          <a:prstGeom prst="roundRect">
            <a:avLst/>
          </a:prstGeom>
          <a:solidFill>
            <a:srgbClr val="F4F7FB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39" y="1508760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742"/>
                </a:solidFill>
                <a:latin typeface="Aptos"/>
              </a:rPr>
              <a:t>Visualization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39" y="1874519"/>
            <a:ext cx="3063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D3440"/>
                </a:solidFill>
                <a:latin typeface="Aptos"/>
              </a:rPr>
              <a:t>Using charts and visual summaries to communicate patterns.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46120"/>
            <a:ext cx="3429000" cy="1463040"/>
          </a:xfrm>
          <a:prstGeom prst="roundRect">
            <a:avLst/>
          </a:prstGeom>
          <a:solidFill>
            <a:srgbClr val="F4F7FB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3383279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742"/>
                </a:solidFill>
                <a:latin typeface="Aptos"/>
              </a:rPr>
              <a:t>Machine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749039"/>
            <a:ext cx="3063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D3440"/>
                </a:solidFill>
                <a:latin typeface="Aptos"/>
              </a:rPr>
              <a:t>Understanding model development, validation, and evaluation.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246120"/>
            <a:ext cx="3429000" cy="1463040"/>
          </a:xfrm>
          <a:prstGeom prst="roundRect">
            <a:avLst/>
          </a:prstGeom>
          <a:solidFill>
            <a:srgbClr val="F4F7FB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383279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742"/>
                </a:solidFill>
                <a:latin typeface="Aptos"/>
              </a:rPr>
              <a:t>Documentation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749039"/>
            <a:ext cx="3063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D3440"/>
                </a:solidFill>
                <a:latin typeface="Aptos"/>
              </a:rPr>
              <a:t>Methodology, assumptions, findings, limitations, and conclusions.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59" y="3246120"/>
            <a:ext cx="3429000" cy="1463040"/>
          </a:xfrm>
          <a:prstGeom prst="roundRect">
            <a:avLst/>
          </a:prstGeom>
          <a:solidFill>
            <a:srgbClr val="F4F7FB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39" y="3383279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742"/>
                </a:solidFill>
                <a:latin typeface="Aptos"/>
              </a:rPr>
              <a:t>Professional Practice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39" y="3749039"/>
            <a:ext cx="3063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D3440"/>
                </a:solidFill>
                <a:latin typeface="Aptos"/>
              </a:rPr>
              <a:t>Communication, time management, review feedback, and structured problem solving.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309360"/>
            <a:ext cx="10972800" cy="9144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640080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46E7D"/>
                </a:solidFill>
                <a:latin typeface="Aptos"/>
              </a:rPr>
              <a:t>Data Science Internship | SkillCraft Technology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76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92742"/>
                </a:solidFill>
                <a:latin typeface="Aptos"/>
              </a:rPr>
              <a:t>Data Science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6E7D"/>
                </a:solidFill>
                <a:latin typeface="Aptos"/>
              </a:rPr>
              <a:t>A practical workflow connecting problem definition to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6E7D"/>
                </a:solidFill>
                <a:latin typeface="Aptos"/>
              </a:rPr>
              <a:t>6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148840"/>
            <a:ext cx="530352" cy="530352"/>
          </a:xfrm>
          <a:prstGeom prst="ellipse">
            <a:avLst/>
          </a:prstGeom>
          <a:solidFill>
            <a:srgbClr val="376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2788920"/>
            <a:ext cx="868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2D3440"/>
                </a:solidFill>
                <a:latin typeface="Aptos"/>
              </a:rPr>
              <a:t>Problem</a:t>
            </a:r>
          </a:p>
        </p:txBody>
      </p:sp>
      <p:sp>
        <p:nvSpPr>
          <p:cNvPr id="9" name="Oval 8"/>
          <p:cNvSpPr/>
          <p:nvPr/>
        </p:nvSpPr>
        <p:spPr>
          <a:xfrm>
            <a:off x="2103120" y="2148840"/>
            <a:ext cx="530352" cy="530352"/>
          </a:xfrm>
          <a:prstGeom prst="ellipse">
            <a:avLst/>
          </a:prstGeom>
          <a:solidFill>
            <a:srgbClr val="376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8527" y="2788920"/>
            <a:ext cx="868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2D3440"/>
                </a:solidFill>
                <a:latin typeface="Aptos"/>
              </a:rPr>
              <a:t>Collect Data</a:t>
            </a:r>
          </a:p>
        </p:txBody>
      </p:sp>
      <p:sp>
        <p:nvSpPr>
          <p:cNvPr id="11" name="Oval 10"/>
          <p:cNvSpPr/>
          <p:nvPr/>
        </p:nvSpPr>
        <p:spPr>
          <a:xfrm>
            <a:off x="3520440" y="2148840"/>
            <a:ext cx="530352" cy="530352"/>
          </a:xfrm>
          <a:prstGeom prst="ellipse">
            <a:avLst/>
          </a:prstGeom>
          <a:solidFill>
            <a:srgbClr val="376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5848" y="2788920"/>
            <a:ext cx="868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2D3440"/>
                </a:solidFill>
                <a:latin typeface="Aptos"/>
              </a:rPr>
              <a:t>Clean</a:t>
            </a:r>
          </a:p>
        </p:txBody>
      </p:sp>
      <p:sp>
        <p:nvSpPr>
          <p:cNvPr id="13" name="Oval 12"/>
          <p:cNvSpPr/>
          <p:nvPr/>
        </p:nvSpPr>
        <p:spPr>
          <a:xfrm>
            <a:off x="4937760" y="2148840"/>
            <a:ext cx="530352" cy="530352"/>
          </a:xfrm>
          <a:prstGeom prst="ellipse">
            <a:avLst/>
          </a:prstGeom>
          <a:solidFill>
            <a:srgbClr val="376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788920"/>
            <a:ext cx="868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2D3440"/>
                </a:solidFill>
                <a:latin typeface="Aptos"/>
              </a:rPr>
              <a:t>Explore</a:t>
            </a:r>
          </a:p>
        </p:txBody>
      </p:sp>
      <p:sp>
        <p:nvSpPr>
          <p:cNvPr id="15" name="Oval 14"/>
          <p:cNvSpPr/>
          <p:nvPr/>
        </p:nvSpPr>
        <p:spPr>
          <a:xfrm>
            <a:off x="6355080" y="2148840"/>
            <a:ext cx="530352" cy="530352"/>
          </a:xfrm>
          <a:prstGeom prst="ellipse">
            <a:avLst/>
          </a:prstGeom>
          <a:solidFill>
            <a:srgbClr val="376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2788920"/>
            <a:ext cx="868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2D3440"/>
                </a:solidFill>
                <a:latin typeface="Aptos"/>
              </a:rPr>
              <a:t>Features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0" y="2148840"/>
            <a:ext cx="530352" cy="530352"/>
          </a:xfrm>
          <a:prstGeom prst="ellipse">
            <a:avLst/>
          </a:prstGeom>
          <a:solidFill>
            <a:srgbClr val="376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8" y="2788920"/>
            <a:ext cx="868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2D3440"/>
                </a:solidFill>
                <a:latin typeface="Aptos"/>
              </a:rPr>
              <a:t>Model</a:t>
            </a:r>
          </a:p>
        </p:txBody>
      </p:sp>
      <p:sp>
        <p:nvSpPr>
          <p:cNvPr id="19" name="Oval 18"/>
          <p:cNvSpPr/>
          <p:nvPr/>
        </p:nvSpPr>
        <p:spPr>
          <a:xfrm>
            <a:off x="9189720" y="2148840"/>
            <a:ext cx="530352" cy="530352"/>
          </a:xfrm>
          <a:prstGeom prst="ellipse">
            <a:avLst/>
          </a:prstGeom>
          <a:solidFill>
            <a:srgbClr val="376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5128" y="2788920"/>
            <a:ext cx="868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2D3440"/>
                </a:solidFill>
                <a:latin typeface="Aptos"/>
              </a:rPr>
              <a:t>Evaluate</a:t>
            </a:r>
          </a:p>
        </p:txBody>
      </p:sp>
      <p:sp>
        <p:nvSpPr>
          <p:cNvPr id="21" name="Oval 20"/>
          <p:cNvSpPr/>
          <p:nvPr/>
        </p:nvSpPr>
        <p:spPr>
          <a:xfrm>
            <a:off x="10607040" y="2148840"/>
            <a:ext cx="530352" cy="530352"/>
          </a:xfrm>
          <a:prstGeom prst="ellipse">
            <a:avLst/>
          </a:prstGeom>
          <a:solidFill>
            <a:srgbClr val="376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42448" y="2788920"/>
            <a:ext cx="868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2D3440"/>
                </a:solidFill>
                <a:latin typeface="Aptos"/>
              </a:rPr>
              <a:t>Communicate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2D3440"/>
                </a:solidFill>
                <a:latin typeface="Aptos"/>
              </a:rPr>
              <a:t>The workflow begins by defining the problem and ends with communicating results, limitations, and recommendations. Data quality and validation remain important throughout.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309360"/>
            <a:ext cx="10972800" cy="9144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640080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46E7D"/>
                </a:solidFill>
                <a:latin typeface="Aptos"/>
              </a:rPr>
              <a:t>Data Science Internship | SkillCraft Technology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76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92742"/>
                </a:solidFill>
                <a:latin typeface="Aptos"/>
              </a:rPr>
              <a:t>Tools &amp;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6E7D"/>
                </a:solidFill>
                <a:latin typeface="Aptos"/>
              </a:rPr>
              <a:t>Technologies relevant to data-oriented project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6E7D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251460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63039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742"/>
                </a:solidFill>
                <a:latin typeface="Aptos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2148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D3440"/>
                </a:solidFill>
                <a:latin typeface="Aptos"/>
              </a:rPr>
              <a:t>Programming, automation,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325880"/>
            <a:ext cx="251460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463039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742"/>
                </a:solidFill>
                <a:latin typeface="Aptos"/>
              </a:rPr>
              <a:t>Pandas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828800"/>
            <a:ext cx="2148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D3440"/>
                </a:solidFill>
                <a:latin typeface="Aptos"/>
              </a:rPr>
              <a:t>Data cleaning and transformation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325880"/>
            <a:ext cx="251460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463039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742"/>
                </a:solidFill>
                <a:latin typeface="Aptos"/>
              </a:rPr>
              <a:t>NumPy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828800"/>
            <a:ext cx="2148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D3440"/>
                </a:solidFill>
                <a:latin typeface="Aptos"/>
              </a:rPr>
              <a:t>Numerical computation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325880"/>
            <a:ext cx="251460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19" y="1463039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742"/>
                </a:solidFill>
                <a:latin typeface="Aptos"/>
              </a:rPr>
              <a:t>Matplotlib / Seaborn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19" y="1828800"/>
            <a:ext cx="2148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D3440"/>
                </a:solidFill>
                <a:latin typeface="Aptos"/>
              </a:rPr>
              <a:t>Visualization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200400"/>
            <a:ext cx="251460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337560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742"/>
                </a:solidFill>
                <a:latin typeface="Aptos"/>
              </a:rPr>
              <a:t>Scikit-learn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703320"/>
            <a:ext cx="2148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D3440"/>
                </a:solidFill>
                <a:latin typeface="Aptos"/>
              </a:rPr>
              <a:t>Machine learning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3200400"/>
            <a:ext cx="251460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3337560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742"/>
                </a:solidFill>
                <a:latin typeface="Aptos"/>
              </a:rPr>
              <a:t>Jupyter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703320"/>
            <a:ext cx="2148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D3440"/>
                </a:solidFill>
                <a:latin typeface="Aptos"/>
              </a:rPr>
              <a:t>Interactive analysis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200400"/>
            <a:ext cx="251460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337560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742"/>
                </a:solidFill>
                <a:latin typeface="Aptos"/>
              </a:rPr>
              <a:t>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703320"/>
            <a:ext cx="2148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D3440"/>
                </a:solidFill>
                <a:latin typeface="Aptos"/>
              </a:rPr>
              <a:t>Structured data querying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35440" y="3200400"/>
            <a:ext cx="251460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19" y="3337560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742"/>
                </a:solidFill>
                <a:latin typeface="Aptos"/>
              </a:rPr>
              <a:t>Git / GitHub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19" y="3703320"/>
            <a:ext cx="2148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D3440"/>
                </a:solidFill>
                <a:latin typeface="Aptos"/>
              </a:rPr>
              <a:t>Version control &amp; collaboration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309360"/>
            <a:ext cx="10972800" cy="9144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640080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46E7D"/>
                </a:solidFill>
                <a:latin typeface="Aptos"/>
              </a:rPr>
              <a:t>Data Science Internship | SkillCraft Technology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76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92742"/>
                </a:solidFill>
                <a:latin typeface="Aptos"/>
              </a:rPr>
              <a:t>Week-wise Learning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6E7D"/>
                </a:solidFill>
                <a:latin typeface="Aptos"/>
              </a:rPr>
              <a:t>Aligned with the one-month internship duration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6E7D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80160"/>
            <a:ext cx="1965960" cy="841248"/>
          </a:xfrm>
          <a:prstGeom prst="roundRect">
            <a:avLst/>
          </a:prstGeom>
          <a:solidFill>
            <a:srgbClr val="F4F7FB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17319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742"/>
                </a:solidFill>
                <a:latin typeface="Aptos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6002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D3440"/>
                </a:solidFill>
                <a:latin typeface="Aptos"/>
              </a:rPr>
              <a:t>Orientation &amp;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280160"/>
            <a:ext cx="8229600" cy="841248"/>
          </a:xfrm>
          <a:prstGeom prst="roundRect">
            <a:avLst/>
          </a:prstGeom>
          <a:solidFill>
            <a:srgbClr val="F4F7FB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1417319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742"/>
                </a:solidFill>
                <a:latin typeface="Aptos"/>
              </a:rPr>
              <a:t>Orientation &amp;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783080"/>
            <a:ext cx="786384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D3440"/>
                </a:solidFill>
                <a:latin typeface="Aptos"/>
              </a:rPr>
              <a:t>Role expectations, Python/data fundamentals, dataset quality checks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423160"/>
            <a:ext cx="1965960" cy="841248"/>
          </a:xfrm>
          <a:prstGeom prst="roundRect">
            <a:avLst/>
          </a:prstGeom>
          <a:solidFill>
            <a:srgbClr val="F4F7FB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560320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742"/>
                </a:solidFill>
                <a:latin typeface="Aptos"/>
              </a:rPr>
              <a:t>WEEK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926080"/>
            <a:ext cx="16002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D3440"/>
                </a:solidFill>
                <a:latin typeface="Aptos"/>
              </a:rPr>
              <a:t>EDA &amp; Visualization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2423160"/>
            <a:ext cx="8229600" cy="841248"/>
          </a:xfrm>
          <a:prstGeom prst="roundRect">
            <a:avLst/>
          </a:prstGeom>
          <a:solidFill>
            <a:srgbClr val="F4F7FB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256032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742"/>
                </a:solidFill>
                <a:latin typeface="Aptos"/>
              </a:rPr>
              <a:t>EDA &amp; Visualization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926080"/>
            <a:ext cx="786384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D3440"/>
                </a:solidFill>
                <a:latin typeface="Aptos"/>
              </a:rPr>
              <a:t>Cleaning, descriptive analysis, charts, patterns and anomalies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566160"/>
            <a:ext cx="1965960" cy="841248"/>
          </a:xfrm>
          <a:prstGeom prst="roundRect">
            <a:avLst/>
          </a:prstGeom>
          <a:solidFill>
            <a:srgbClr val="F4F7FB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703320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742"/>
                </a:solidFill>
                <a:latin typeface="Aptos"/>
              </a:rPr>
              <a:t>WEEK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069080"/>
            <a:ext cx="16002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D3440"/>
                </a:solidFill>
                <a:latin typeface="Aptos"/>
              </a:rPr>
              <a:t>Machine Learning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3566160"/>
            <a:ext cx="8229600" cy="841248"/>
          </a:xfrm>
          <a:prstGeom prst="roundRect">
            <a:avLst/>
          </a:prstGeom>
          <a:solidFill>
            <a:srgbClr val="F4F7FB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08960" y="370332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742"/>
                </a:solidFill>
                <a:latin typeface="Aptos"/>
              </a:rPr>
              <a:t>Machine 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4069080"/>
            <a:ext cx="786384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D3440"/>
                </a:solidFill>
                <a:latin typeface="Aptos"/>
              </a:rPr>
              <a:t>Features, baseline models, training/testing, evaluation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709160"/>
            <a:ext cx="1965960" cy="841248"/>
          </a:xfrm>
          <a:prstGeom prst="roundRect">
            <a:avLst/>
          </a:prstGeom>
          <a:solidFill>
            <a:srgbClr val="F4F7FB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846320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742"/>
                </a:solidFill>
                <a:latin typeface="Aptos"/>
              </a:rPr>
              <a:t>WEEK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212080"/>
            <a:ext cx="16002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D3440"/>
                </a:solidFill>
                <a:latin typeface="Aptos"/>
              </a:rPr>
              <a:t>Finalization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26080" y="4709160"/>
            <a:ext cx="8229600" cy="841248"/>
          </a:xfrm>
          <a:prstGeom prst="roundRect">
            <a:avLst/>
          </a:prstGeom>
          <a:solidFill>
            <a:srgbClr val="F4F7FB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08960" y="484632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742"/>
                </a:solidFill>
                <a:latin typeface="Aptos"/>
              </a:rPr>
              <a:t>Finalization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5212080"/>
            <a:ext cx="786384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D3440"/>
                </a:solidFill>
                <a:latin typeface="Aptos"/>
              </a:rPr>
              <a:t>Interpretation, documentation, presentation, feedback and improvements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309360"/>
            <a:ext cx="10972800" cy="9144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640080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46E7D"/>
                </a:solidFill>
                <a:latin typeface="Aptos"/>
              </a:rPr>
              <a:t>Data Science Internship | SkillCraft Technology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76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92742"/>
                </a:solidFill>
                <a:latin typeface="Aptos"/>
              </a:rPr>
              <a:t>Skills &amp; 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6E7D"/>
                </a:solidFill>
                <a:latin typeface="Aptos"/>
              </a:rPr>
              <a:t>Technical and professional capabilities from the internship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6E7D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D3440"/>
                </a:solidFill>
                <a:latin typeface="Aptos"/>
              </a:defRPr>
            </a:pPr>
            <a:r>
              <a:t>• Data handling: cleaning, preprocessing, transformation, and quality checks.</a:t>
            </a:r>
          </a:p>
          <a:p>
            <a:pPr>
              <a:spcAft>
                <a:spcPts val="1100"/>
              </a:spcAft>
              <a:defRPr sz="1500">
                <a:solidFill>
                  <a:srgbClr val="2D3440"/>
                </a:solidFill>
                <a:latin typeface="Aptos"/>
              </a:defRPr>
            </a:pPr>
            <a:r>
              <a:t>• Analysis: descriptive statistics, EDA, visualization, and pattern identification.</a:t>
            </a:r>
          </a:p>
          <a:p>
            <a:pPr>
              <a:spcAft>
                <a:spcPts val="1100"/>
              </a:spcAft>
              <a:defRPr sz="1500">
                <a:solidFill>
                  <a:srgbClr val="2D3440"/>
                </a:solidFill>
                <a:latin typeface="Aptos"/>
              </a:defRPr>
            </a:pPr>
            <a:r>
              <a:t>• Machine learning: understanding model selection, training, validation, and evaluation.</a:t>
            </a:r>
          </a:p>
          <a:p>
            <a:pPr>
              <a:spcAft>
                <a:spcPts val="1100"/>
              </a:spcAft>
              <a:defRPr sz="1500">
                <a:solidFill>
                  <a:srgbClr val="2D3440"/>
                </a:solidFill>
                <a:latin typeface="Aptos"/>
              </a:defRPr>
            </a:pPr>
            <a:r>
              <a:t>• Documentation: clear methodology, assumptions, findings, limitations, and conclusions.</a:t>
            </a:r>
          </a:p>
          <a:p>
            <a:pPr>
              <a:spcAft>
                <a:spcPts val="1100"/>
              </a:spcAft>
              <a:defRPr sz="1500">
                <a:solidFill>
                  <a:srgbClr val="2D3440"/>
                </a:solidFill>
                <a:latin typeface="Aptos"/>
              </a:defRPr>
            </a:pPr>
            <a:r>
              <a:t>• Professional skills: communication, time management, review feedback, and structured problem solving.</a:t>
            </a:r>
          </a:p>
          <a:p>
            <a:pPr>
              <a:spcAft>
                <a:spcPts val="1100"/>
              </a:spcAft>
              <a:defRPr sz="1500">
                <a:solidFill>
                  <a:srgbClr val="2D3440"/>
                </a:solidFill>
                <a:latin typeface="Aptos"/>
              </a:defRPr>
            </a:pPr>
            <a:r>
              <a:t>• Responsible practice: awareness of data privacy, bias, model limitations, and honest reporting.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309360"/>
            <a:ext cx="10972800" cy="9144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640080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46E7D"/>
                </a:solidFill>
                <a:latin typeface="Aptos"/>
              </a:rPr>
              <a:t>Data Science Internship | SkillCraft Technology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76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92742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6E7D"/>
                </a:solidFill>
                <a:latin typeface="Aptos"/>
              </a:rPr>
              <a:t>Key takeaways from the internship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6E7D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D3440"/>
                </a:solidFill>
                <a:latin typeface="Aptos"/>
              </a:defRPr>
            </a:pPr>
            <a:r>
              <a:t>• The internship provided professional exposure in the role of Data Science Intern.</a:t>
            </a:r>
          </a:p>
          <a:p>
            <a:pPr>
              <a:spcAft>
                <a:spcPts val="1100"/>
              </a:spcAft>
              <a:defRPr sz="1500">
                <a:solidFill>
                  <a:srgbClr val="2D3440"/>
                </a:solidFill>
                <a:latin typeface="Aptos"/>
              </a:defRPr>
            </a:pPr>
            <a:r>
              <a:t>• The supplied documents confirm the internship period, role, domain, and completion.</a:t>
            </a:r>
          </a:p>
          <a:p>
            <a:pPr>
              <a:spcAft>
                <a:spcPts val="1100"/>
              </a:spcAft>
              <a:defRPr sz="1500">
                <a:solidFill>
                  <a:srgbClr val="2D3440"/>
                </a:solidFill>
                <a:latin typeface="Aptos"/>
              </a:defRPr>
            </a:pPr>
            <a:r>
              <a:t>• A disciplined data science workflow connects problem definition, data preparation, analysis, modelling, evaluation, and communication.</a:t>
            </a:r>
          </a:p>
          <a:p>
            <a:pPr>
              <a:spcAft>
                <a:spcPts val="1100"/>
              </a:spcAft>
              <a:defRPr sz="1500">
                <a:solidFill>
                  <a:srgbClr val="2D3440"/>
                </a:solidFill>
                <a:latin typeface="Aptos"/>
              </a:defRPr>
            </a:pPr>
            <a:r>
              <a:t>• The experience builds a foundation for further work in Data Science, Machine Learning, and Data Analytics.</a:t>
            </a:r>
          </a:p>
          <a:p>
            <a:pPr>
              <a:spcAft>
                <a:spcPts val="1100"/>
              </a:spcAft>
              <a:defRPr sz="1500">
                <a:solidFill>
                  <a:srgbClr val="2D3440"/>
                </a:solidFill>
                <a:latin typeface="Aptos"/>
              </a:defRPr>
            </a:pPr>
            <a:r>
              <a:t>• Continuous learning, documentation, responsible data practice, and feedback are important for long-term growth.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349240"/>
            <a:ext cx="3931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92742"/>
                </a:solidFill>
                <a:latin typeface="Aptos"/>
              </a:rPr>
              <a:t>Thank You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309360"/>
            <a:ext cx="10972800" cy="9144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640080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46E7D"/>
                </a:solidFill>
                <a:latin typeface="Aptos"/>
              </a:rPr>
              <a:t>Data Science Internship | SkillCraft Technology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76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92742"/>
                </a:solidFill>
                <a:latin typeface="Aptos"/>
              </a:rPr>
              <a:t>Appendix — Internship Offer Letter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6E7D"/>
                </a:solidFill>
                <a:latin typeface="Aptos"/>
              </a:rPr>
              <a:t>Supporting document supplied with the internship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6E7D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1508760"/>
            <a:ext cx="8503920" cy="3657600"/>
          </a:xfrm>
          <a:prstGeom prst="roundRect">
            <a:avLst/>
          </a:prstGeom>
          <a:solidFill>
            <a:srgbClr val="F4F7FB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1645919"/>
            <a:ext cx="8138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742"/>
                </a:solidFill>
                <a:latin typeface="Aptos"/>
              </a:rPr>
              <a:t>INTERNSHIP OFFER LETTER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011680"/>
            <a:ext cx="8138160" cy="3063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D3440"/>
                </a:solidFill>
                <a:latin typeface="Aptos"/>
              </a:rPr>
              <a:t>SkillCraft Technology
Data Science Internship
Student: Ashish Kushwaha
Internship ID: SCT/JUL26/4527
Duration: 16 July 2026 – 16 August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309360"/>
            <a:ext cx="10972800" cy="9144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640080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46E7D"/>
                </a:solidFill>
                <a:latin typeface="Aptos"/>
              </a:rPr>
              <a:t>Data Science Internship | SkillCraft Technology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92742"/>
                </a:solidFill>
                <a:latin typeface="Aptos"/>
              </a:rPr>
              <a:t>Appendix — Internship Certificate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6E7D"/>
                </a:solidFill>
                <a:latin typeface="Aptos"/>
              </a:rPr>
              <a:t>Official completion certificate supplied with the internship report</a:t>
            </a:r>
          </a:p>
        </p:txBody>
      </p:sp>
      <p:pic>
        <p:nvPicPr>
          <p:cNvPr id="5" name="Picture 4" descr="SkillCraft_certificate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085" y="1142999"/>
            <a:ext cx="7305525" cy="5166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6309360"/>
            <a:ext cx="10972800" cy="9144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40080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6E7D"/>
                </a:solidFill>
              </a:rPr>
              <a:t>Data Science Internship | SkillCraft Technology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154680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Aptos"/>
              </a:rPr>
              <a:t>Data Science Internship | SkillCraft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794760"/>
            <a:ext cx="8138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D2DCEB"/>
                </a:solidFill>
                <a:latin typeface="Aptos"/>
              </a:rPr>
              <a:t>Ashish Kushwaha • B.Tech CSE • Batch 2026–27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